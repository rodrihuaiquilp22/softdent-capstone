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Plus Jakarta Sans ExtraBold"/>
      <p:bold r:id="rId21"/>
      <p:boldItalic r:id="rId22"/>
    </p:embeddedFont>
    <p:embeddedFont>
      <p:font typeface="Inter SemiBold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Plus Jakarta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jZlrhuPQ8uAThksJ/Eou8higrD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usJakartaSansExtraBold-boldItalic.fntdata"/><Relationship Id="rId21" Type="http://schemas.openxmlformats.org/officeDocument/2006/relationships/font" Target="fonts/PlusJakartaSansExtraBold-bold.fntdata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usJakartaSans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PlusJakartaSans-italic.fntdata"/><Relationship Id="rId10" Type="http://schemas.openxmlformats.org/officeDocument/2006/relationships/slide" Target="slides/slide5.xml"/><Relationship Id="rId32" Type="http://schemas.openxmlformats.org/officeDocument/2006/relationships/font" Target="fonts/PlusJakartaSans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PlusJakarta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9c490a95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9c490a9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9c490a956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9c490a95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11" Type="http://schemas.openxmlformats.org/officeDocument/2006/relationships/image" Target="../media/image8.png"/><Relationship Id="rId10" Type="http://schemas.openxmlformats.org/officeDocument/2006/relationships/image" Target="../media/image3.png"/><Relationship Id="rId12" Type="http://schemas.openxmlformats.org/officeDocument/2006/relationships/image" Target="../media/image20.png"/><Relationship Id="rId9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11" Type="http://schemas.openxmlformats.org/officeDocument/2006/relationships/image" Target="../media/image31.png"/><Relationship Id="rId10" Type="http://schemas.openxmlformats.org/officeDocument/2006/relationships/image" Target="../media/image24.png"/><Relationship Id="rId12" Type="http://schemas.openxmlformats.org/officeDocument/2006/relationships/image" Target="../media/image36.png"/><Relationship Id="rId9" Type="http://schemas.openxmlformats.org/officeDocument/2006/relationships/image" Target="../media/image33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Relationship Id="rId7" Type="http://schemas.openxmlformats.org/officeDocument/2006/relationships/image" Target="../media/image37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11" Type="http://schemas.openxmlformats.org/officeDocument/2006/relationships/image" Target="../media/image30.png"/><Relationship Id="rId10" Type="http://schemas.openxmlformats.org/officeDocument/2006/relationships/image" Target="../media/image41.png"/><Relationship Id="rId12" Type="http://schemas.openxmlformats.org/officeDocument/2006/relationships/image" Target="../media/image34.png"/><Relationship Id="rId9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29.png"/><Relationship Id="rId7" Type="http://schemas.openxmlformats.org/officeDocument/2006/relationships/image" Target="../media/image37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Relationship Id="rId4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43.png"/><Relationship Id="rId5" Type="http://schemas.openxmlformats.org/officeDocument/2006/relationships/image" Target="../media/image48.png"/><Relationship Id="rId6" Type="http://schemas.openxmlformats.org/officeDocument/2006/relationships/image" Target="../media/image38.png"/><Relationship Id="rId7" Type="http://schemas.openxmlformats.org/officeDocument/2006/relationships/image" Target="../media/image40.png"/><Relationship Id="rId8" Type="http://schemas.openxmlformats.org/officeDocument/2006/relationships/image" Target="../media/image4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4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5025" y="-64700"/>
            <a:ext cx="12307024" cy="6922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50" y="2126456"/>
            <a:ext cx="3238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845468" y="2650331"/>
            <a:ext cx="850106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0" i="0" lang="en-US" sz="435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Soft</a:t>
            </a:r>
            <a:r>
              <a:rPr b="0" i="0" lang="en-US" sz="4350" u="none" cap="none" strike="noStrike">
                <a:solidFill>
                  <a:srgbClr val="14B8A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047875" y="3488531"/>
            <a:ext cx="8096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Solución Tecnológica de Gestión Interna y Cumplimiento Normativo para Clínicas Odontológicas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047875" y="4402931"/>
            <a:ext cx="80962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Sede Plaza Vespucio | Ingeniería en Informática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9" name="Google Shape;8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2226469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7900"/>
            <a:ext cx="352425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247900"/>
            <a:ext cx="352425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247900"/>
            <a:ext cx="352425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4955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819150" y="3143250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Alexis Romero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819150" y="3476625"/>
            <a:ext cx="3028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Scrum Master / Lead 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819150" y="3752850"/>
            <a:ext cx="3028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Diseño e implementación de arquitectura PostgreSQL, cifrado en reposo (AES-256) y tránsito (TLS 1.3), control de acceso RBAC y módulo de Logs de Auditoría inmutables para la Ley N° 21.719.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2" name="Google Shape;102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1525" y="24955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4581525" y="3143250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Rodrigo Huaiquil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4581525" y="3476625"/>
            <a:ext cx="3028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 Dev / UI-UX Lead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4581525" y="3752850"/>
            <a:ext cx="3028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Diseño de interfaces optimizadas y accesibles. Desarrollo del módulo de Agenda por especialidad, gestión de boxes y Ficha Médica Digital estructurada con selecciones FDI/Universal.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6" name="Google Shape;106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3900" y="24955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8343900" y="3143250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Axel Rubio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343900" y="3476625"/>
            <a:ext cx="3028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 Owner / Full-Stack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8343900" y="3752850"/>
            <a:ext cx="3028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Gestión y priorización del Product Backlog (MVP vs. Fase 2), diseño de pruebas unitarias/integración, validación de ciberseguridad (OWASP) y cumplimiento normativo de salud.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0" name="Google Shape;110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26193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91062" y="261937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67725" y="26193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Equipo de Trabajo y Roles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0787"/>
            <a:ext cx="5357812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2490787"/>
            <a:ext cx="5357812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 txBox="1"/>
          <p:nvPr/>
        </p:nvSpPr>
        <p:spPr>
          <a:xfrm>
            <a:off x="866775" y="2786062"/>
            <a:ext cx="50056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Problemática y 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866775" y="3119437"/>
            <a:ext cx="47672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Operación Manual e Ineficiente: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Clínicas PYME en la RM gestionan citas e insumos en papel o Excel, generando pérdidas financieras y ausentismo no controlado.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866775" y="3919537"/>
            <a:ext cx="47672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Riesgo Normativo Crítico: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Fragmentación de información de salud y falta de estándares de seguridad ante la entrada en vigor de la Ley N° 21.719 sobre Protección de Datos Personales.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6557962" y="2786062"/>
            <a:ext cx="50056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Propuesta de Solución (SoftDent)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6557962" y="3119437"/>
            <a:ext cx="47672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Plataforma Interna Centralizada: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Sistema accesible de gestión operactiva, clínica y financiera básica que optimiza la agenda y la atención en boxes.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6557962" y="3919537"/>
            <a:ext cx="47672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Seguridad y Trazabilidad Total: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Almacenamiento cifrado de fichas médicas y motor de logs inmutables que garantiza privacidad e integridad del historial paciente.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8" name="Google Shape;12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225" y="280987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9187" y="2809874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Presentación del Caso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 txBox="1"/>
          <p:nvPr/>
        </p:nvSpPr>
        <p:spPr>
          <a:xfrm>
            <a:off x="914400" y="2571750"/>
            <a:ext cx="1070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Objetivo General: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Desarrollar una solución tecnológica de gestión interna para clínicas odontológicas que centralice la administración operacional, clínica y financiera básica, garantizando el cumplimiento de la Ley N° 21.719.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914400" y="3181350"/>
            <a:ext cx="1070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Seguridad RBAC: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Diseñar e implementar un control de acceso basado en roles con el principio de mínimo privilegio para todo el personal clínico.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914400" y="3562350"/>
            <a:ext cx="1070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Ficha Médica Digital: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Crear un módulo clínico estructurado con selecciones dinámicas (piezas FDI/Universal) y cifrado de datos en reposo y tránsito.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914400" y="4171950"/>
            <a:ext cx="1070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Logs de Auditoría Inmutables: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Construir un sistema de trazabilidad inalterable de consultas y modificaciones sobre historias clínicas de salud.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914400" y="4552950"/>
            <a:ext cx="1070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Agenda y Recepción: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Optimizar la asignación de boxes, agendamiento por especialidad y control de caja y aranceles en recepción.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2" name="Google Shape;1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55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051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86162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957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576762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Objetivos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Plan de Trabajo y 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700" y="1314250"/>
            <a:ext cx="10582575" cy="48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6012"/>
            <a:ext cx="35242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386012"/>
            <a:ext cx="35242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386012"/>
            <a:ext cx="35242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63366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 txBox="1"/>
          <p:nvPr/>
        </p:nvSpPr>
        <p:spPr>
          <a:xfrm>
            <a:off x="819150" y="3281362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Marco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819150" y="3614737"/>
            <a:ext cx="3028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Iteraciones cortas (Sprints de 2 semanas) orientadas a entregas incrementales de software funcional con inspección continua ante requerimientos normativos.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8" name="Google Shape;16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1525" y="263366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 txBox="1"/>
          <p:nvPr/>
        </p:nvSpPr>
        <p:spPr>
          <a:xfrm>
            <a:off x="4581525" y="3281362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Estrategia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4581525" y="3614737"/>
            <a:ext cx="3028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Delimitación acotada del alcance priorizando el Core Operativo (Agenda, Ficha, Caja y Seguridad RBAC) y postergando funciones avanzadas al Backlog.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1" name="Google Shape;17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3900" y="263366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 txBox="1"/>
          <p:nvPr/>
        </p:nvSpPr>
        <p:spPr>
          <a:xfrm>
            <a:off x="8343900" y="3281362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Gobierno &amp; Trazabilidad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8343900" y="3614737"/>
            <a:ext cx="3028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Uso de tableros Kanban (Jira/Trello), ceremonias diarias y criterios DoD/Gherkin estrictos para asegurar la calidad antes del release.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4" name="Google Shape;174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" y="27574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91062" y="275748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96300" y="275748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Metodología de Trabajo Ágil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14562"/>
            <a:ext cx="35242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214562"/>
            <a:ext cx="35242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214562"/>
            <a:ext cx="35242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4622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 txBox="1"/>
          <p:nvPr/>
        </p:nvSpPr>
        <p:spPr>
          <a:xfrm>
            <a:off x="819150" y="3109912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Frontend &amp; 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819150" y="3443287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Tecnología: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React / Next.js &amp; Tailwind CSS.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819150" y="4014787"/>
            <a:ext cx="3028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Desarrollo de interfaz responsiva y accesible para los roles clínicos. Despliegue automatizado continuous delivery mediante Vercel.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1" name="Google Shape;19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1525" y="24622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/>
        </p:nvSpPr>
        <p:spPr>
          <a:xfrm>
            <a:off x="4581525" y="3109912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Backend &amp; APIs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4581525" y="3443287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Tecnología: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Node.js / Express &amp; REST APIs.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4581525" y="4014787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Servicios backend modulados, lógica de autenticación RBAC y middleware de cifrado y registro inmutable de auditoría.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5" name="Google Shape;19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3900" y="24622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 txBox="1"/>
          <p:nvPr/>
        </p:nvSpPr>
        <p:spPr>
          <a:xfrm>
            <a:off x="8343900" y="3109912"/>
            <a:ext cx="31803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 de Datos &amp;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8343900" y="3443287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Tecnología: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PostgreSQL &amp; Render/Supabase.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8343900" y="4014787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Base relacional escalable en 3FN con soporte de cifrado AES-256 en reposo y conexiones protegidas mediante TLS 1.3.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9" name="Google Shape;199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" y="25860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19637" y="258603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82012" y="258603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Stack Tecnológico Seleccionado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/>
          <p:nvPr/>
        </p:nvSpPr>
        <p:spPr>
          <a:xfrm>
            <a:off x="581025" y="3302793"/>
            <a:ext cx="1852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2433042" y="3302793"/>
            <a:ext cx="2876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5309443" y="3302793"/>
            <a:ext cx="23900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7699474" y="3302793"/>
            <a:ext cx="3911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81025" y="3759993"/>
            <a:ext cx="1852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2433042" y="3759993"/>
            <a:ext cx="2876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309443" y="3759993"/>
            <a:ext cx="23900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7699474" y="3759993"/>
            <a:ext cx="3911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81025" y="4217193"/>
            <a:ext cx="1852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2433042" y="4217193"/>
            <a:ext cx="2876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309443" y="4217193"/>
            <a:ext cx="23900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7699474" y="4217193"/>
            <a:ext cx="3911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81025" y="4674393"/>
            <a:ext cx="1852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2433042" y="4674393"/>
            <a:ext cx="2876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309443" y="4674393"/>
            <a:ext cx="23900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7699474" y="4674393"/>
            <a:ext cx="3911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571500" y="275625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Modelo Relacional Normalizado SoftDent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000" y="781326"/>
            <a:ext cx="10615983" cy="5966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9" title="diagrama de componentes.png"/>
          <p:cNvPicPr preferRelativeResize="0"/>
          <p:nvPr/>
        </p:nvPicPr>
        <p:blipFill rotWithShape="1">
          <a:blip r:embed="rId3">
            <a:alphaModFix/>
          </a:blip>
          <a:srcRect b="3166" l="0" r="0" t="3157"/>
          <a:stretch/>
        </p:blipFill>
        <p:spPr>
          <a:xfrm>
            <a:off x="6037225" y="1600050"/>
            <a:ext cx="5909549" cy="38620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2" name="Google Shape;232;p9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Diagrama de Arquitectura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9" title="diagrama de despliegu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375" y="1600050"/>
            <a:ext cx="5596500" cy="38620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5" name="Google Shape;235;p9"/>
          <p:cNvSpPr txBox="1"/>
          <p:nvPr/>
        </p:nvSpPr>
        <p:spPr>
          <a:xfrm>
            <a:off x="620450" y="5652650"/>
            <a:ext cx="45234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Diagrama de Despliegue</a:t>
            </a:r>
            <a:endParaRPr sz="2500">
              <a:solidFill>
                <a:schemeClr val="dk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6521475" y="5668850"/>
            <a:ext cx="484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Diagrama de Componentes</a:t>
            </a:r>
            <a:endParaRPr sz="2500">
              <a:solidFill>
                <a:schemeClr val="dk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 txBox="1"/>
          <p:nvPr/>
        </p:nvSpPr>
        <p:spPr>
          <a:xfrm>
            <a:off x="720050" y="242975"/>
            <a:ext cx="6037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Mockups de Pantallas Propuestas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10" title="Gemini_Generated_Image_t5t2int5t2int5t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50" y="789375"/>
            <a:ext cx="10751900" cy="575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g3f9c490a95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f9c490a956_0_0"/>
          <p:cNvSpPr txBox="1"/>
          <p:nvPr/>
        </p:nvSpPr>
        <p:spPr>
          <a:xfrm>
            <a:off x="573200" y="163525"/>
            <a:ext cx="11314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Diagrama de Secuencias (</a:t>
            </a:r>
            <a:r>
              <a:rPr lang="en-US" sz="225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Módulo de Autenticación Segura y Control de Acceso</a:t>
            </a:r>
            <a:r>
              <a:rPr lang="en-US" sz="225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51" name="Google Shape;251;g3f9c490a956_0_0" title="Módulo de Autenticación Segura y Control de Acceso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387" y="1040725"/>
            <a:ext cx="10904426" cy="554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g3f9c490a956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f9c490a956_0_8"/>
          <p:cNvSpPr txBox="1"/>
          <p:nvPr/>
        </p:nvSpPr>
        <p:spPr>
          <a:xfrm>
            <a:off x="566875" y="200125"/>
            <a:ext cx="11625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Diagrama de Secuencias (</a:t>
            </a:r>
            <a:r>
              <a:rPr lang="en-US" sz="225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Módulo de Registro Clínico y Ficha Médica Estructurada</a:t>
            </a:r>
            <a:r>
              <a:rPr lang="en-US" sz="225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58" name="Google Shape;258;g3f9c490a956_0_8" title="Módulo de Registro Clínico y Ficha Médica Estructurada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475" y="999900"/>
            <a:ext cx="10929076" cy="55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1"/>
          <p:cNvSpPr txBox="1"/>
          <p:nvPr/>
        </p:nvSpPr>
        <p:spPr>
          <a:xfrm>
            <a:off x="914400" y="2800350"/>
            <a:ext cx="1070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Finalización del MVP: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Culminar la integración del módulo financiero de recepción (aranceles y control de caja).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"/>
          <p:cNvSpPr txBox="1"/>
          <p:nvPr/>
        </p:nvSpPr>
        <p:spPr>
          <a:xfrm>
            <a:off x="914400" y="3181350"/>
            <a:ext cx="1070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Ejecución del Plan de Pruebas (QA):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Realizar pruebas de carga, pruebas unitarias y análisis de vulnerabilidades OWASP.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1"/>
          <p:cNvSpPr txBox="1"/>
          <p:nvPr/>
        </p:nvSpPr>
        <p:spPr>
          <a:xfrm>
            <a:off x="914400" y="3562350"/>
            <a:ext cx="1070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Validación de Usabilidad: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Realizar sesiones de prueba con personal de clínica para verificar los tiempos de registro clínico estructurado.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1"/>
          <p:cNvSpPr txBox="1"/>
          <p:nvPr/>
        </p:nvSpPr>
        <p:spPr>
          <a:xfrm>
            <a:off x="914400" y="3943350"/>
            <a:ext cx="1070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Despliegue y Hardening: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Configurar el entorno de producción en cloud con respaldos automatizados de base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1"/>
          <p:cNvSpPr txBox="1"/>
          <p:nvPr/>
        </p:nvSpPr>
        <p:spPr>
          <a:xfrm>
            <a:off x="914400" y="4324350"/>
            <a:ext cx="1070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Evolutivos Fase 2 (Backlog):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Incorporación diferida de odontograma interactivo, integración con laboratorios externos y analítica.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9" name="Google Shape;26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416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051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8616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6716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348162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Próximos Pasos y Hoja de Ruta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5587"/>
            <a:ext cx="3228975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2"/>
          <p:cNvSpPr txBox="1"/>
          <p:nvPr/>
        </p:nvSpPr>
        <p:spPr>
          <a:xfrm>
            <a:off x="571538" y="3062275"/>
            <a:ext cx="32289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0"/>
              <a:buFont typeface="Arial"/>
              <a:buNone/>
            </a:pPr>
            <a:r>
              <a:rPr b="0" i="0" lang="en-US" sz="675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2"/>
          <p:cNvSpPr txBox="1"/>
          <p:nvPr/>
        </p:nvSpPr>
        <p:spPr>
          <a:xfrm>
            <a:off x="952500" y="4129087"/>
            <a:ext cx="2466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CFBF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Factible &amp; Alineado a Perfil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4276725" y="2728912"/>
            <a:ext cx="771096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Cierre y Aporte de 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 txBox="1"/>
          <p:nvPr/>
        </p:nvSpPr>
        <p:spPr>
          <a:xfrm>
            <a:off x="4276725" y="3062287"/>
            <a:ext cx="7343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Digitalización Accesible: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SoftDent elimina la dependencia del papel en clínicas PYME, mejorando la eficiencia operativa y reduciendo pérdidas de tiempo y ausentismo.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 txBox="1"/>
          <p:nvPr/>
        </p:nvSpPr>
        <p:spPr>
          <a:xfrm>
            <a:off x="4276725" y="3633787"/>
            <a:ext cx="7343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Cumplimiento Legal Anticipado: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Protege a las PYMEs médicas ante el nuevo marco sancionatorio de la Ley N° 21.719 mediante cifrado robusto e inmutabilidad de logs.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4276725" y="4205287"/>
            <a:ext cx="7343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Integración de Competencias: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Demuestra la aplicación transversal de Desarrollo de Software, Arquitectura, Bases de Datos y Gestión de Proyectos TI del perfil de egreso Duoc UC.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Conclusiones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8100" y="-94550"/>
            <a:ext cx="12360099" cy="695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6250"/>
            <a:ext cx="11049000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28950" y="4038600"/>
            <a:ext cx="61341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3"/>
          <p:cNvSpPr txBox="1"/>
          <p:nvPr/>
        </p:nvSpPr>
        <p:spPr>
          <a:xfrm>
            <a:off x="4135755" y="2324100"/>
            <a:ext cx="392049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4519612" y="3228975"/>
            <a:ext cx="31527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9F6E4"/>
                </a:solidFill>
                <a:latin typeface="Inter"/>
                <a:ea typeface="Inter"/>
                <a:cs typeface="Inter"/>
                <a:sym typeface="Inter"/>
              </a:rPr>
              <a:t>Muchas gracias por su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9" name="Google Shape;29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67350" y="4210050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